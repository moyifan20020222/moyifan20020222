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640375629" name="莫一凡" initials="莫" lastIdx="1" clrIdx="0"/>
  <p:cmAuthor id="1" name="Ruan, Tiger (KRGUA)" initials="RT("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gs" Target="tags/tag1.xml"/><Relationship Id="rId17" Type="http://schemas.openxmlformats.org/officeDocument/2006/relationships/commentAuthors" Target="commentAuthors.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cxnSp>
        <p:nvCxnSpPr>
          <p:cNvPr id="11" name="直接连接符 10"/>
          <p:cNvCxnSpPr/>
          <p:nvPr userDrawn="1"/>
        </p:nvCxnSpPr>
        <p:spPr>
          <a:xfrm>
            <a:off x="0" y="960579"/>
            <a:ext cx="12204000" cy="0"/>
          </a:xfrm>
          <a:prstGeom prst="line">
            <a:avLst/>
          </a:prstGeom>
          <a:ln w="6350">
            <a:solidFill>
              <a:srgbClr val="C7BD5D"/>
            </a:solidFill>
          </a:ln>
          <a:effectLst>
            <a:outerShdw blurRad="25400" dir="2400000" algn="tl" rotWithShape="0">
              <a:srgbClr val="C7BD5D"/>
            </a:outerShdw>
          </a:effectLst>
        </p:spPr>
        <p:style>
          <a:lnRef idx="1">
            <a:schemeClr val="accent4"/>
          </a:lnRef>
          <a:fillRef idx="0">
            <a:schemeClr val="accent4"/>
          </a:fillRef>
          <a:effectRef idx="0">
            <a:schemeClr val="accent4"/>
          </a:effectRef>
          <a:fontRef idx="minor">
            <a:schemeClr val="tx1"/>
          </a:fontRef>
        </p:style>
      </p:cxnSp>
      <p:pic>
        <p:nvPicPr>
          <p:cNvPr id="13" name="图片 12"/>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78691" y="213387"/>
            <a:ext cx="1805651" cy="571700"/>
          </a:xfrm>
          <a:prstGeom prst="rect">
            <a:avLst/>
          </a:prstGeom>
        </p:spPr>
      </p:pic>
      <p:sp>
        <p:nvSpPr>
          <p:cNvPr id="15" name="文本框 14"/>
          <p:cNvSpPr txBox="1"/>
          <p:nvPr userDrawn="1"/>
        </p:nvSpPr>
        <p:spPr>
          <a:xfrm>
            <a:off x="8262337" y="323422"/>
            <a:ext cx="3550972" cy="461665"/>
          </a:xfrm>
          <a:prstGeom prst="rect">
            <a:avLst/>
          </a:prstGeom>
          <a:noFill/>
        </p:spPr>
        <p:txBody>
          <a:bodyPr wrap="none" rtlCol="0">
            <a:spAutoFit/>
          </a:bodyPr>
          <a:lstStyle/>
          <a:p>
            <a:r>
              <a:rPr lang="zh-CN" altLang="en-US" sz="2400" b="0" dirty="0">
                <a:latin typeface="华文行楷" panose="02010800040101010101" pitchFamily="2" charset="-122"/>
                <a:ea typeface="华文行楷" panose="02010800040101010101" pitchFamily="2" charset="-122"/>
              </a:rPr>
              <a:t>有志</a:t>
            </a:r>
            <a:r>
              <a:rPr lang="en-US" altLang="zh-CN" sz="2400" b="0" dirty="0">
                <a:latin typeface="华文行楷" panose="02010800040101010101" pitchFamily="2" charset="-122"/>
                <a:ea typeface="华文行楷" panose="02010800040101010101" pitchFamily="2" charset="-122"/>
              </a:rPr>
              <a:t>    </a:t>
            </a:r>
            <a:r>
              <a:rPr lang="zh-CN" altLang="en-US" sz="2400" b="0" dirty="0">
                <a:latin typeface="华文行楷" panose="02010800040101010101" pitchFamily="2" charset="-122"/>
                <a:ea typeface="华文行楷" panose="02010800040101010101" pitchFamily="2" charset="-122"/>
              </a:rPr>
              <a:t>有识 </a:t>
            </a:r>
            <a:r>
              <a:rPr lang="en-US" altLang="zh-CN" sz="2400" b="0" dirty="0">
                <a:latin typeface="华文行楷" panose="02010800040101010101" pitchFamily="2" charset="-122"/>
                <a:ea typeface="华文行楷" panose="02010800040101010101" pitchFamily="2" charset="-122"/>
              </a:rPr>
              <a:t>   </a:t>
            </a:r>
            <a:r>
              <a:rPr lang="zh-CN" altLang="en-US" sz="2400" b="0" dirty="0">
                <a:latin typeface="华文行楷" panose="02010800040101010101" pitchFamily="2" charset="-122"/>
                <a:ea typeface="华文行楷" panose="02010800040101010101" pitchFamily="2" charset="-122"/>
              </a:rPr>
              <a:t>有恒    有为</a:t>
            </a:r>
            <a:endParaRPr lang="zh-CN" altLang="en-US" sz="2400" b="0" dirty="0">
              <a:latin typeface="华文行楷" panose="02010800040101010101" pitchFamily="2" charset="-122"/>
              <a:ea typeface="华文行楷" panose="02010800040101010101" pitchFamily="2" charset="-122"/>
            </a:endParaRPr>
          </a:p>
        </p:txBody>
      </p:sp>
      <p:sp>
        <p:nvSpPr>
          <p:cNvPr id="2" name="矩形 1"/>
          <p:cNvSpPr/>
          <p:nvPr userDrawn="1"/>
        </p:nvSpPr>
        <p:spPr>
          <a:xfrm>
            <a:off x="378691" y="1126834"/>
            <a:ext cx="45719" cy="480287"/>
          </a:xfrm>
          <a:prstGeom prst="rect">
            <a:avLst/>
          </a:prstGeom>
          <a:solidFill>
            <a:srgbClr val="3C82B9">
              <a:alpha val="7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8.jpeg"/><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10.png"/><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280160" y="1122680"/>
            <a:ext cx="9615170" cy="2387600"/>
          </a:xfrm>
        </p:spPr>
        <p:txBody>
          <a:bodyPr>
            <a:normAutofit fontScale="90000"/>
          </a:bodyPr>
          <a:p>
            <a:r>
              <a:rPr lang="zh-CN" altLang="en-US" sz="3555"/>
              <a:t>SAPT: A Shared Attention Framework for Parameter-Efficient  Continual Learning of Large Language Models</a:t>
            </a:r>
            <a:br>
              <a:rPr lang="zh-CN" altLang="en-US" sz="3555"/>
            </a:br>
            <a:r>
              <a:rPr lang="zh-CN" altLang="en-US" sz="3555"/>
              <a:t>用于大型语言模型的参数高效持续学习的共享注意力</a:t>
            </a:r>
            <a:endParaRPr lang="zh-CN" altLang="en-US" sz="3555"/>
          </a:p>
        </p:txBody>
      </p:sp>
      <p:sp>
        <p:nvSpPr>
          <p:cNvPr id="3" name="副标题 2"/>
          <p:cNvSpPr>
            <a:spLocks noGrp="1"/>
          </p:cNvSpPr>
          <p:nvPr>
            <p:ph type="subTitle" idx="1"/>
          </p:nvPr>
        </p:nvSpPr>
        <p:spPr/>
        <p:txBody>
          <a:bodyPr/>
          <a:p>
            <a:r>
              <a:rPr lang="zh-CN" altLang="en-US"/>
              <a:t>哈工大，</a:t>
            </a:r>
            <a:r>
              <a:rPr lang="en-US" altLang="zh-CN"/>
              <a:t> ACL</a:t>
            </a:r>
            <a:endParaRPr lang="en-US" altLang="zh-CN"/>
          </a:p>
          <a:p>
            <a:r>
              <a:rPr lang="en-US" altLang="zh-CN"/>
              <a:t>1.4 </a:t>
            </a:r>
            <a:r>
              <a:rPr lang="zh-CN" altLang="en-US"/>
              <a:t>莫一凡</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0060" y="1155065"/>
            <a:ext cx="5168900" cy="460375"/>
          </a:xfrm>
          <a:prstGeom prst="rect">
            <a:avLst/>
          </a:prstGeom>
          <a:noFill/>
        </p:spPr>
        <p:txBody>
          <a:bodyPr wrap="square" rtlCol="0">
            <a:spAutoFit/>
          </a:bodyPr>
          <a:lstStyle/>
          <a:p>
            <a:r>
              <a:rPr lang="zh-CN" altLang="en-US" sz="2400">
                <a:sym typeface="+mn-ea"/>
              </a:rPr>
              <a:t>持续学习</a:t>
            </a:r>
            <a:endParaRPr lang="zh-CN" altLang="en-US" sz="2400">
              <a:sym typeface="+mn-ea"/>
            </a:endParaRPr>
          </a:p>
        </p:txBody>
      </p:sp>
      <p:sp>
        <p:nvSpPr>
          <p:cNvPr id="5" name="文本框 4"/>
          <p:cNvSpPr txBox="1"/>
          <p:nvPr/>
        </p:nvSpPr>
        <p:spPr>
          <a:xfrm>
            <a:off x="750570" y="4883785"/>
            <a:ext cx="10441940" cy="2163445"/>
          </a:xfrm>
          <a:prstGeom prst="rect">
            <a:avLst/>
          </a:prstGeom>
          <a:noFill/>
        </p:spPr>
        <p:txBody>
          <a:bodyPr wrap="square">
            <a:noAutofit/>
          </a:bodyPr>
          <a:lstStyle/>
          <a:p>
            <a:endParaRPr lang="zh-CN" altLang="en-US" dirty="0"/>
          </a:p>
        </p:txBody>
      </p:sp>
      <p:pic>
        <p:nvPicPr>
          <p:cNvPr id="21" name="图片 1"/>
          <p:cNvPicPr>
            <a:picLocks noChangeAspect="1"/>
          </p:cNvPicPr>
          <p:nvPr/>
        </p:nvPicPr>
        <p:blipFill>
          <a:blip r:embed="rId1"/>
          <a:stretch>
            <a:fillRect/>
          </a:stretch>
        </p:blipFill>
        <p:spPr>
          <a:xfrm>
            <a:off x="558165" y="1791335"/>
            <a:ext cx="5138420" cy="4768215"/>
          </a:xfrm>
          <a:prstGeom prst="rect">
            <a:avLst/>
          </a:prstGeom>
          <a:noFill/>
          <a:ln>
            <a:noFill/>
          </a:ln>
        </p:spPr>
      </p:pic>
      <p:sp>
        <p:nvSpPr>
          <p:cNvPr id="4" name="文本框 3"/>
          <p:cNvSpPr txBox="1"/>
          <p:nvPr/>
        </p:nvSpPr>
        <p:spPr>
          <a:xfrm>
            <a:off x="7013575" y="1259205"/>
            <a:ext cx="4321175" cy="1945005"/>
          </a:xfrm>
          <a:prstGeom prst="rect">
            <a:avLst/>
          </a:prstGeom>
          <a:noFill/>
        </p:spPr>
        <p:txBody>
          <a:bodyPr wrap="square" rtlCol="0">
            <a:noAutofit/>
          </a:bodyPr>
          <a:p>
            <a:r>
              <a:rPr lang="zh-CN" altLang="en-US"/>
              <a:t>任务定义：对于一系列的任务【这里特别让任务类型都不一样】，每个任务有各自的数据集，且需要保证任务学习后，每个任务的表现都不会下降，并且可以对于新输入的数据，能在没有指示</a:t>
            </a:r>
            <a:r>
              <a:rPr lang="zh-CN" altLang="en-US"/>
              <a:t>标识符的情况下，选择对应的任务执行。</a:t>
            </a:r>
            <a:endParaRPr lang="zh-CN" altLang="en-US"/>
          </a:p>
        </p:txBody>
      </p:sp>
      <p:sp>
        <p:nvSpPr>
          <p:cNvPr id="7" name="文本框 6"/>
          <p:cNvSpPr txBox="1"/>
          <p:nvPr/>
        </p:nvSpPr>
        <p:spPr>
          <a:xfrm>
            <a:off x="6692900" y="3440430"/>
            <a:ext cx="4481195" cy="2030095"/>
          </a:xfrm>
          <a:prstGeom prst="rect">
            <a:avLst/>
          </a:prstGeom>
          <a:noFill/>
        </p:spPr>
        <p:txBody>
          <a:bodyPr wrap="square" rtlCol="0">
            <a:spAutoFit/>
          </a:bodyPr>
          <a:p>
            <a:r>
              <a:rPr lang="zh-CN" altLang="en-US"/>
              <a:t>解决的问题：1、灾难性遗忘CF，指在学习新任务时失去以前获得的知识【比如说，两个任务分别用不同的输出，那么模型中间的参数比如会产生变化】。2、知识转移，如何有效利用过去任务的知识来促进当前新任务的学习。</a:t>
            </a:r>
            <a:r>
              <a:rPr lang="en-US" altLang="zh-CN"/>
              <a:t>3</a:t>
            </a:r>
            <a:r>
              <a:rPr lang="zh-CN" altLang="en-US"/>
              <a:t>、对于测试样本，如何识别其对应</a:t>
            </a:r>
            <a:r>
              <a:rPr lang="zh-CN" altLang="en-US"/>
              <a:t>任务。</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0060" y="1155065"/>
            <a:ext cx="5168900" cy="460375"/>
          </a:xfrm>
          <a:prstGeom prst="rect">
            <a:avLst/>
          </a:prstGeom>
          <a:noFill/>
        </p:spPr>
        <p:txBody>
          <a:bodyPr wrap="square" rtlCol="0">
            <a:spAutoFit/>
          </a:bodyPr>
          <a:lstStyle/>
          <a:p>
            <a:r>
              <a:rPr lang="zh-CN" altLang="en-US" sz="2400">
                <a:sym typeface="+mn-ea"/>
              </a:rPr>
              <a:t>持续学习</a:t>
            </a:r>
            <a:endParaRPr lang="zh-CN" altLang="en-US" sz="2400">
              <a:sym typeface="+mn-ea"/>
            </a:endParaRPr>
          </a:p>
        </p:txBody>
      </p:sp>
      <p:sp>
        <p:nvSpPr>
          <p:cNvPr id="5" name="文本框 4"/>
          <p:cNvSpPr txBox="1"/>
          <p:nvPr/>
        </p:nvSpPr>
        <p:spPr>
          <a:xfrm>
            <a:off x="716915" y="4883785"/>
            <a:ext cx="5165725" cy="1676400"/>
          </a:xfrm>
          <a:prstGeom prst="rect">
            <a:avLst/>
          </a:prstGeom>
          <a:noFill/>
        </p:spPr>
        <p:txBody>
          <a:bodyPr wrap="square">
            <a:noAutofit/>
          </a:bodyPr>
          <a:lstStyle/>
          <a:p>
            <a:endParaRPr lang="zh-CN" altLang="en-US" dirty="0"/>
          </a:p>
        </p:txBody>
      </p:sp>
      <p:pic>
        <p:nvPicPr>
          <p:cNvPr id="21" name="图片 1"/>
          <p:cNvPicPr>
            <a:picLocks noChangeAspect="1"/>
          </p:cNvPicPr>
          <p:nvPr/>
        </p:nvPicPr>
        <p:blipFill>
          <a:blip r:embed="rId1"/>
          <a:stretch>
            <a:fillRect/>
          </a:stretch>
        </p:blipFill>
        <p:spPr>
          <a:xfrm>
            <a:off x="558165" y="1791335"/>
            <a:ext cx="5138420" cy="4768850"/>
          </a:xfrm>
          <a:prstGeom prst="rect">
            <a:avLst/>
          </a:prstGeom>
          <a:noFill/>
          <a:ln>
            <a:noFill/>
          </a:ln>
        </p:spPr>
      </p:pic>
      <p:sp>
        <p:nvSpPr>
          <p:cNvPr id="8" name="文本框 7"/>
          <p:cNvSpPr txBox="1"/>
          <p:nvPr/>
        </p:nvSpPr>
        <p:spPr>
          <a:xfrm>
            <a:off x="6408420" y="1339215"/>
            <a:ext cx="5419090" cy="4246245"/>
          </a:xfrm>
          <a:prstGeom prst="rect">
            <a:avLst/>
          </a:prstGeom>
          <a:noFill/>
        </p:spPr>
        <p:txBody>
          <a:bodyPr wrap="square" rtlCol="0">
            <a:spAutoFit/>
          </a:bodyPr>
          <a:p>
            <a:pPr indent="457200"/>
            <a:r>
              <a:rPr lang="zh-CN" altLang="en-US"/>
              <a:t>当新的对话生成任务到来时，实现基于 PET 块的大型语言模型的连续学习的学习和选择模块的概念框架。【也就是前两个时原先学习好的，第三个任务是新来的。虚线代表PET方法，意思就是训练调整，测试冻结，来一个任务，学习模块就会分配一个私有PET块获取特定任务的知识，然后保存到PET池中，供选择模块在测试样本到来时选择对应的PET块，来学习关于这个任务的</a:t>
            </a:r>
            <a:r>
              <a:rPr lang="zh-CN" altLang="en-US"/>
              <a:t>内容】</a:t>
            </a:r>
            <a:endParaRPr lang="zh-CN" altLang="en-US"/>
          </a:p>
          <a:p>
            <a:pPr indent="457200"/>
            <a:r>
              <a:rPr lang="zh-CN" altLang="en-US"/>
              <a:t>但这个方法有两个问题，第一个就是每个学习都是在单独的任务中单独进行，要么保持</a:t>
            </a:r>
            <a:r>
              <a:rPr lang="zh-CN" altLang="en-US"/>
              <a:t>任务彼此正交以尽量减少干扰，这就阻碍了知识转移这个的内容。另一个方面就是选择模块在缓解灾难性遗忘方面，做到了自动选择匹配当前输入的PET块，才能配合大语言模型完成当前任务，如果直接让输入对所有PET块的结果进行求和或是串联，都会产生影响。</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0060" y="1155065"/>
            <a:ext cx="5168900" cy="460375"/>
          </a:xfrm>
          <a:prstGeom prst="rect">
            <a:avLst/>
          </a:prstGeom>
          <a:noFill/>
        </p:spPr>
        <p:txBody>
          <a:bodyPr wrap="square" rtlCol="0">
            <a:spAutoFit/>
          </a:bodyPr>
          <a:lstStyle/>
          <a:p>
            <a:r>
              <a:rPr lang="zh-CN" altLang="en-US" sz="2400">
                <a:sym typeface="+mn-ea"/>
              </a:rPr>
              <a:t>持续学习</a:t>
            </a:r>
            <a:endParaRPr lang="zh-CN" altLang="en-US" sz="2400">
              <a:sym typeface="+mn-ea"/>
            </a:endParaRPr>
          </a:p>
        </p:txBody>
      </p:sp>
      <p:sp>
        <p:nvSpPr>
          <p:cNvPr id="5" name="文本框 4"/>
          <p:cNvSpPr txBox="1"/>
          <p:nvPr/>
        </p:nvSpPr>
        <p:spPr>
          <a:xfrm>
            <a:off x="750570" y="4883785"/>
            <a:ext cx="10441940" cy="2163445"/>
          </a:xfrm>
          <a:prstGeom prst="rect">
            <a:avLst/>
          </a:prstGeom>
          <a:noFill/>
        </p:spPr>
        <p:txBody>
          <a:bodyPr wrap="square">
            <a:noAutofit/>
          </a:bodyPr>
          <a:lstStyle/>
          <a:p>
            <a:endParaRPr lang="zh-CN" altLang="en-US" dirty="0"/>
          </a:p>
        </p:txBody>
      </p:sp>
      <p:sp>
        <p:nvSpPr>
          <p:cNvPr id="8" name="文本框 7"/>
          <p:cNvSpPr txBox="1"/>
          <p:nvPr/>
        </p:nvSpPr>
        <p:spPr>
          <a:xfrm>
            <a:off x="6408420" y="1339215"/>
            <a:ext cx="5419090" cy="2799715"/>
          </a:xfrm>
          <a:prstGeom prst="rect">
            <a:avLst/>
          </a:prstGeom>
          <a:noFill/>
        </p:spPr>
        <p:txBody>
          <a:bodyPr wrap="square" rtlCol="0">
            <a:spAutoFit/>
          </a:bodyPr>
          <a:p>
            <a:r>
              <a:rPr lang="zh-CN" altLang="en-US" sz="1600"/>
              <a:t>比如说Rehearsal-free Continual Language Learning via Efficient Parameter  Isolation</a:t>
            </a:r>
            <a:r>
              <a:rPr lang="en-US" altLang="zh-CN" sz="1600"/>
              <a:t> </a:t>
            </a:r>
            <a:r>
              <a:rPr lang="zh-CN" altLang="en-US" sz="1600"/>
              <a:t>这个文章对比的方法来看，他在解决灾难性遗忘的问题上，同样采用了一个</a:t>
            </a:r>
            <a:r>
              <a:rPr lang="en-US" altLang="zh-CN" sz="1600"/>
              <a:t>PET</a:t>
            </a:r>
            <a:r>
              <a:rPr lang="zh-CN" altLang="en-US" sz="1600"/>
              <a:t>块配合大模型解决问题。</a:t>
            </a:r>
            <a:endParaRPr lang="zh-CN" altLang="en-US" sz="1600"/>
          </a:p>
          <a:p>
            <a:r>
              <a:rPr lang="zh-CN" altLang="en-US" sz="1600"/>
              <a:t>但是在知识迁移上，只是简单的采用了将上一轮学习好的</a:t>
            </a:r>
            <a:r>
              <a:rPr lang="en-US" altLang="zh-CN" sz="1600"/>
              <a:t>prompt</a:t>
            </a:r>
            <a:r>
              <a:rPr lang="zh-CN" altLang="en-US" sz="1600"/>
              <a:t>或是全部学习好的</a:t>
            </a:r>
            <a:r>
              <a:rPr lang="en-US" altLang="zh-CN" sz="1600"/>
              <a:t>prompt</a:t>
            </a:r>
            <a:r>
              <a:rPr lang="zh-CN" altLang="en-US" sz="1600"/>
              <a:t>的平均值作为当前学习任务的初始值。</a:t>
            </a:r>
            <a:endParaRPr lang="zh-CN" altLang="en-US" sz="1600"/>
          </a:p>
          <a:p>
            <a:r>
              <a:rPr lang="zh-CN" altLang="en-US" sz="1600"/>
              <a:t>而在选择模块上，文章认为这些都可以借鉴处理</a:t>
            </a:r>
            <a:r>
              <a:rPr lang="en-US" altLang="zh-CN" sz="1600"/>
              <a:t>OOD</a:t>
            </a:r>
            <a:r>
              <a:rPr lang="zh-CN" altLang="en-US" sz="1600"/>
              <a:t>问题的方法，选择了借助马氏距离和高维高斯分布之间的联系，通过找每个测试样本关于每个任务高斯分布之间马氏距离最小，作为任务选择</a:t>
            </a:r>
            <a:r>
              <a:rPr lang="zh-CN" altLang="en-US" sz="1600"/>
              <a:t>依据。</a:t>
            </a:r>
            <a:endParaRPr lang="zh-CN" altLang="en-US" sz="1600"/>
          </a:p>
        </p:txBody>
      </p:sp>
      <p:pic>
        <p:nvPicPr>
          <p:cNvPr id="49" name="图片 1"/>
          <p:cNvPicPr>
            <a:picLocks noChangeAspect="1"/>
          </p:cNvPicPr>
          <p:nvPr/>
        </p:nvPicPr>
        <p:blipFill>
          <a:blip r:embed="rId1"/>
          <a:stretch>
            <a:fillRect/>
          </a:stretch>
        </p:blipFill>
        <p:spPr>
          <a:xfrm>
            <a:off x="479743" y="1864678"/>
            <a:ext cx="5269865" cy="345503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0060" y="1155065"/>
            <a:ext cx="5168900" cy="460375"/>
          </a:xfrm>
          <a:prstGeom prst="rect">
            <a:avLst/>
          </a:prstGeom>
          <a:noFill/>
        </p:spPr>
        <p:txBody>
          <a:bodyPr wrap="square" rtlCol="0">
            <a:spAutoFit/>
          </a:bodyPr>
          <a:lstStyle/>
          <a:p>
            <a:r>
              <a:rPr lang="zh-CN" altLang="en-US" sz="2400">
                <a:sym typeface="+mn-ea"/>
              </a:rPr>
              <a:t>持续学习</a:t>
            </a:r>
            <a:endParaRPr lang="zh-CN" altLang="en-US" sz="2400">
              <a:sym typeface="+mn-ea"/>
            </a:endParaRPr>
          </a:p>
        </p:txBody>
      </p:sp>
      <p:sp>
        <p:nvSpPr>
          <p:cNvPr id="5" name="文本框 4"/>
          <p:cNvSpPr txBox="1"/>
          <p:nvPr/>
        </p:nvSpPr>
        <p:spPr>
          <a:xfrm>
            <a:off x="750570" y="4883785"/>
            <a:ext cx="10441940" cy="2163445"/>
          </a:xfrm>
          <a:prstGeom prst="rect">
            <a:avLst/>
          </a:prstGeom>
          <a:noFill/>
        </p:spPr>
        <p:txBody>
          <a:bodyPr wrap="square">
            <a:noAutofit/>
          </a:bodyPr>
          <a:lstStyle/>
          <a:p>
            <a:endParaRPr lang="zh-CN" altLang="en-US" dirty="0"/>
          </a:p>
        </p:txBody>
      </p:sp>
      <p:pic>
        <p:nvPicPr>
          <p:cNvPr id="28" name="图片 2"/>
          <p:cNvPicPr>
            <a:picLocks noChangeAspect="1"/>
          </p:cNvPicPr>
          <p:nvPr/>
        </p:nvPicPr>
        <p:blipFill>
          <a:blip r:embed="rId1"/>
          <a:stretch>
            <a:fillRect/>
          </a:stretch>
        </p:blipFill>
        <p:spPr>
          <a:xfrm>
            <a:off x="480060" y="1880235"/>
            <a:ext cx="5269230" cy="3248660"/>
          </a:xfrm>
          <a:prstGeom prst="rect">
            <a:avLst/>
          </a:prstGeom>
          <a:noFill/>
          <a:ln>
            <a:noFill/>
          </a:ln>
        </p:spPr>
      </p:pic>
      <p:sp>
        <p:nvSpPr>
          <p:cNvPr id="2" name="文本框 1"/>
          <p:cNvSpPr txBox="1"/>
          <p:nvPr/>
        </p:nvSpPr>
        <p:spPr>
          <a:xfrm>
            <a:off x="6325235" y="1470660"/>
            <a:ext cx="5414010" cy="4156075"/>
          </a:xfrm>
          <a:prstGeom prst="rect">
            <a:avLst/>
          </a:prstGeom>
          <a:noFill/>
        </p:spPr>
        <p:txBody>
          <a:bodyPr wrap="square" rtlCol="0">
            <a:noAutofit/>
          </a:bodyPr>
          <a:p>
            <a:r>
              <a:rPr lang="zh-CN" altLang="en-US" sz="1400"/>
              <a:t> SAPT 的整体架构。我们假设 SAPT 当前正处于学习任务 T3 的时间步骤 3。</a:t>
            </a:r>
            <a:endParaRPr lang="zh-CN" altLang="en-US" sz="1400"/>
          </a:p>
          <a:p>
            <a:r>
              <a:rPr lang="zh-CN" altLang="en-US" sz="1400"/>
              <a:t>（1） 在 SALS 中，如实线所示，首先通过输入 x3 和 PET 关键向量 {k1， k2， k3} 之间的实例级共享注意力操作得到任务 T3 的注意力权重 a3，对所有 PET 块 {B1， B2， B3} 进行加权组合，用于当前任务 T3 的注意力学习。 虚线表示注意力选择的过程，遵循相同的共同注意力过程来达到注意力权重 a3，并在测试时利用它来处理给定的输入。【也就是用一个模块，计算他于各个PET关键向量之间的权重并作为选择权重，同样保持训练调整，测试冻结PET的方法】（2） 在 ARM 中，对于之前的任务 T1 和 T2，因为模型经过了当前任务的学习，注意力模块会与当前任务</a:t>
            </a:r>
            <a:r>
              <a:rPr lang="en-US" altLang="zh-CN" sz="1400"/>
              <a:t>T3</a:t>
            </a:r>
            <a:r>
              <a:rPr lang="zh-CN" altLang="en-US" sz="1400"/>
              <a:t>接近，</a:t>
            </a:r>
            <a:r>
              <a:rPr lang="en-US" altLang="zh-CN" sz="1400"/>
              <a:t>ARM</a:t>
            </a:r>
            <a:r>
              <a:rPr lang="zh-CN" altLang="en-US" sz="1400"/>
              <a:t>确保，对于之前任务的输入还能通过执行当前的查询层得到正确的注意力权值，识别特定于每个任务的</a:t>
            </a:r>
            <a:r>
              <a:rPr lang="en-US" altLang="zh-CN" sz="1400"/>
              <a:t>PET</a:t>
            </a:r>
            <a:r>
              <a:rPr lang="zh-CN" altLang="en-US" sz="1400"/>
              <a:t>块组合</a:t>
            </a:r>
            <a:r>
              <a:rPr lang="zh-CN" altLang="en-US" sz="1400"/>
              <a:t>情况。</a:t>
            </a:r>
            <a:endParaRPr lang="zh-CN" altLang="en-US"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0060" y="1155065"/>
            <a:ext cx="5168900" cy="460375"/>
          </a:xfrm>
          <a:prstGeom prst="rect">
            <a:avLst/>
          </a:prstGeom>
          <a:noFill/>
        </p:spPr>
        <p:txBody>
          <a:bodyPr wrap="square" rtlCol="0">
            <a:spAutoFit/>
          </a:bodyPr>
          <a:lstStyle/>
          <a:p>
            <a:r>
              <a:rPr lang="zh-CN" altLang="en-US" sz="2400">
                <a:sym typeface="+mn-ea"/>
              </a:rPr>
              <a:t>持续学习</a:t>
            </a:r>
            <a:endParaRPr lang="zh-CN" altLang="en-US" sz="2400">
              <a:sym typeface="+mn-ea"/>
            </a:endParaRPr>
          </a:p>
        </p:txBody>
      </p:sp>
      <p:sp>
        <p:nvSpPr>
          <p:cNvPr id="5" name="文本框 4"/>
          <p:cNvSpPr txBox="1"/>
          <p:nvPr/>
        </p:nvSpPr>
        <p:spPr>
          <a:xfrm>
            <a:off x="750570" y="4883785"/>
            <a:ext cx="10441940" cy="2163445"/>
          </a:xfrm>
          <a:prstGeom prst="rect">
            <a:avLst/>
          </a:prstGeom>
          <a:noFill/>
        </p:spPr>
        <p:txBody>
          <a:bodyPr wrap="square">
            <a:noAutofit/>
          </a:bodyPr>
          <a:lstStyle/>
          <a:p>
            <a:endParaRPr lang="zh-CN" altLang="en-US" dirty="0"/>
          </a:p>
        </p:txBody>
      </p:sp>
      <p:pic>
        <p:nvPicPr>
          <p:cNvPr id="28" name="图片 2"/>
          <p:cNvPicPr>
            <a:picLocks noChangeAspect="1"/>
          </p:cNvPicPr>
          <p:nvPr/>
        </p:nvPicPr>
        <p:blipFill>
          <a:blip r:embed="rId1"/>
          <a:stretch>
            <a:fillRect/>
          </a:stretch>
        </p:blipFill>
        <p:spPr>
          <a:xfrm>
            <a:off x="480060" y="1880235"/>
            <a:ext cx="5269230" cy="3248660"/>
          </a:xfrm>
          <a:prstGeom prst="rect">
            <a:avLst/>
          </a:prstGeom>
          <a:noFill/>
          <a:ln>
            <a:noFill/>
          </a:ln>
        </p:spPr>
      </p:pic>
      <p:sp>
        <p:nvSpPr>
          <p:cNvPr id="2" name="文本框 1"/>
          <p:cNvSpPr txBox="1"/>
          <p:nvPr/>
        </p:nvSpPr>
        <p:spPr>
          <a:xfrm>
            <a:off x="6325235" y="1470660"/>
            <a:ext cx="5414010" cy="4156075"/>
          </a:xfrm>
          <a:prstGeom prst="rect">
            <a:avLst/>
          </a:prstGeom>
          <a:noFill/>
        </p:spPr>
        <p:txBody>
          <a:bodyPr wrap="square" rtlCol="0">
            <a:noAutofit/>
          </a:bodyPr>
          <a:p>
            <a:r>
              <a:rPr lang="zh-CN" altLang="en-US" sz="1400"/>
              <a:t>PET块：包括两种可以选择的方法</a:t>
            </a:r>
            <a:endParaRPr lang="zh-CN" altLang="en-US" sz="1400"/>
          </a:p>
          <a:p>
            <a:r>
              <a:rPr lang="zh-CN" altLang="en-US" sz="1400"/>
              <a:t>第一种时Prompt Tuning，在提示调整中，一系列称为软提示 P 的虚拟标记被添加到输入文本 x 前面，同时保持 LLM 参数冻结。在这种情况下，在下游任务的训练期间，梯度更新是独立地对 prompt 参数执行的。</a:t>
            </a:r>
            <a:endParaRPr lang="zh-CN" altLang="en-US" sz="1400"/>
          </a:p>
          <a:p>
            <a:r>
              <a:rPr lang="zh-CN" altLang="en-US" sz="1400"/>
              <a:t>第二种就是LoRA微调，对于LLM的预训练权重矩阵，使用低秩分解进行更新。</a:t>
            </a:r>
            <a:endParaRPr lang="zh-CN" altLang="en-US" sz="1400"/>
          </a:p>
          <a:p>
            <a:r>
              <a:rPr lang="zh-CN" altLang="en-US" sz="1400"/>
              <a:t>这样保证了参数存储不会过多且能做到具有大模型微调到每个任务上的</a:t>
            </a:r>
            <a:r>
              <a:rPr lang="zh-CN" altLang="en-US" sz="1400"/>
              <a:t>性能。</a:t>
            </a:r>
            <a:endParaRPr lang="zh-CN" altLang="en-US" sz="1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0060" y="1155065"/>
            <a:ext cx="5168900" cy="460375"/>
          </a:xfrm>
          <a:prstGeom prst="rect">
            <a:avLst/>
          </a:prstGeom>
          <a:noFill/>
        </p:spPr>
        <p:txBody>
          <a:bodyPr wrap="square" rtlCol="0">
            <a:spAutoFit/>
          </a:bodyPr>
          <a:lstStyle/>
          <a:p>
            <a:r>
              <a:rPr lang="zh-CN" altLang="en-US" sz="2400">
                <a:sym typeface="+mn-ea"/>
              </a:rPr>
              <a:t>注意力</a:t>
            </a:r>
            <a:r>
              <a:rPr lang="zh-CN" altLang="en-US" sz="2400">
                <a:sym typeface="+mn-ea"/>
              </a:rPr>
              <a:t>模块</a:t>
            </a:r>
            <a:endParaRPr lang="zh-CN" altLang="en-US" sz="2400">
              <a:sym typeface="+mn-ea"/>
            </a:endParaRPr>
          </a:p>
        </p:txBody>
      </p:sp>
      <p:sp>
        <p:nvSpPr>
          <p:cNvPr id="5" name="文本框 4"/>
          <p:cNvSpPr txBox="1"/>
          <p:nvPr/>
        </p:nvSpPr>
        <p:spPr>
          <a:xfrm>
            <a:off x="750570" y="4883785"/>
            <a:ext cx="10441940" cy="2163445"/>
          </a:xfrm>
          <a:prstGeom prst="rect">
            <a:avLst/>
          </a:prstGeom>
          <a:noFill/>
        </p:spPr>
        <p:txBody>
          <a:bodyPr wrap="square">
            <a:noAutofit/>
          </a:bodyPr>
          <a:lstStyle/>
          <a:p>
            <a:endParaRPr lang="zh-CN" altLang="en-US" dirty="0"/>
          </a:p>
        </p:txBody>
      </p:sp>
      <p:sp>
        <p:nvSpPr>
          <p:cNvPr id="2" name="文本框 1"/>
          <p:cNvSpPr txBox="1"/>
          <p:nvPr/>
        </p:nvSpPr>
        <p:spPr>
          <a:xfrm>
            <a:off x="5918200" y="1470660"/>
            <a:ext cx="5414010" cy="4156075"/>
          </a:xfrm>
          <a:prstGeom prst="rect">
            <a:avLst/>
          </a:prstGeom>
          <a:noFill/>
        </p:spPr>
        <p:txBody>
          <a:bodyPr wrap="square" rtlCol="0">
            <a:noAutofit/>
          </a:bodyPr>
          <a:p>
            <a:r>
              <a:rPr lang="zh-CN" altLang="en-US" sz="1400"/>
              <a:t>注意力计算</a:t>
            </a:r>
            <a:r>
              <a:rPr lang="zh-CN" altLang="en-US" sz="1400"/>
              <a:t>过程：</a:t>
            </a:r>
            <a:endParaRPr lang="zh-CN" altLang="en-US" sz="1400"/>
          </a:p>
          <a:p>
            <a:r>
              <a:rPr lang="zh-CN" altLang="en-US" sz="1400"/>
              <a:t>定义每一个任务下通过PET块微调后得到的</a:t>
            </a:r>
            <a:r>
              <a:rPr lang="en-US" altLang="zh-CN" sz="1400"/>
              <a:t>prompt</a:t>
            </a:r>
            <a:r>
              <a:rPr lang="zh-CN" altLang="en-US" sz="1400"/>
              <a:t>参数信息记为B[i]，当执行第t个任务时，会将先前所有PET块的参数和当前B[t]的参数进行加权组合聚合。</a:t>
            </a:r>
            <a:endParaRPr lang="zh-CN" altLang="en-US" sz="1400"/>
          </a:p>
          <a:p>
            <a:r>
              <a:rPr lang="zh-CN" altLang="en-US" sz="1400"/>
              <a:t>为每一个PET块配置了一个关键向量k[i]（），然后计算实例级的输入键注意力机制，确保不会于单个任务的PET块内部的学习有关，且于PET块使用方法兼容。对于t任务的每一个输入j，当他经过LLM骨干的嵌入层时便可以开始计算。嵌入表示记为E[j] ,{m*d} ，关键向量k[j], {d}。</a:t>
            </a:r>
            <a:endParaRPr lang="zh-CN" altLang="en-US" sz="1400"/>
          </a:p>
          <a:p>
            <a:r>
              <a:rPr lang="zh-CN" altLang="en-US" sz="1400"/>
              <a:t>首先对嵌入表示E执行最大池化操作，让两者维度一致，得到e[j]。然后被馈送到子网络，将其作为查询向量投影到关键向量k[j]的空间中，实现特征对齐。对应方程</a:t>
            </a:r>
            <a:r>
              <a:rPr lang="en-US" altLang="zh-CN" sz="1400"/>
              <a:t>1</a:t>
            </a:r>
            <a:r>
              <a:rPr lang="zh-CN" altLang="en-US" sz="1400"/>
              <a:t>。得到</a:t>
            </a:r>
            <a:r>
              <a:rPr lang="en-US" altLang="zh-CN" sz="1400"/>
              <a:t>q</a:t>
            </a:r>
            <a:endParaRPr lang="en-US" altLang="zh-CN" sz="1400"/>
          </a:p>
          <a:p>
            <a:r>
              <a:rPr lang="zh-CN" altLang="en-US" sz="1400"/>
              <a:t>然后将当前输入得到的</a:t>
            </a:r>
            <a:r>
              <a:rPr lang="en-US" altLang="zh-CN" sz="1400"/>
              <a:t>q</a:t>
            </a:r>
            <a:r>
              <a:rPr lang="zh-CN" altLang="en-US" sz="1400"/>
              <a:t>，与之前所有任务，包括当前任务的关键向量</a:t>
            </a:r>
            <a:r>
              <a:rPr lang="en-US" altLang="zh-CN" sz="1400"/>
              <a:t>k</a:t>
            </a:r>
            <a:r>
              <a:rPr lang="zh-CN" altLang="en-US" sz="1400"/>
              <a:t>，进行权重计算，此时当前任务的前缀嵌入就整合了所有已学习的任务</a:t>
            </a:r>
            <a:r>
              <a:rPr lang="zh-CN" altLang="en-US" sz="1400"/>
              <a:t>了。</a:t>
            </a:r>
            <a:endParaRPr lang="zh-CN" altLang="en-US" sz="1400"/>
          </a:p>
          <a:p>
            <a:r>
              <a:rPr lang="zh-CN" altLang="en-US" sz="1400"/>
              <a:t>最后依据分类结果，更新</a:t>
            </a:r>
            <a:r>
              <a:rPr lang="en-US" altLang="zh-CN" sz="1400"/>
              <a:t>LLM</a:t>
            </a:r>
            <a:r>
              <a:rPr lang="zh-CN" altLang="en-US" sz="1400"/>
              <a:t>的主干网络</a:t>
            </a:r>
            <a:r>
              <a:rPr lang="zh-CN" altLang="en-US" sz="1400"/>
              <a:t>部分，PET中的参数（</a:t>
            </a:r>
            <a:r>
              <a:rPr lang="en-US" altLang="zh-CN" sz="1400"/>
              <a:t>prompt</a:t>
            </a:r>
            <a:r>
              <a:rPr lang="zh-CN" altLang="en-US" sz="1400"/>
              <a:t>表示），查询投影层（维度转换那个），和计算关键向量的权重矩阵。</a:t>
            </a:r>
            <a:endParaRPr lang="zh-CN" altLang="en-US" sz="1400"/>
          </a:p>
          <a:p>
            <a:r>
              <a:rPr lang="zh-CN" altLang="en-US" sz="1400"/>
              <a:t>在后续的测试阶段，这些参数奖保持不变，并使用同样的计算</a:t>
            </a:r>
            <a:r>
              <a:rPr lang="zh-CN" altLang="en-US" sz="1400"/>
              <a:t>公式。</a:t>
            </a:r>
            <a:endParaRPr lang="zh-CN" altLang="en-US" sz="1400"/>
          </a:p>
          <a:p>
            <a:endParaRPr lang="zh-CN" altLang="en-US" sz="1400"/>
          </a:p>
        </p:txBody>
      </p:sp>
      <p:pic>
        <p:nvPicPr>
          <p:cNvPr id="4" name="图片 3"/>
          <p:cNvPicPr/>
          <p:nvPr/>
        </p:nvPicPr>
        <p:blipFill>
          <a:blip r:embed="rId1"/>
          <a:stretch>
            <a:fillRect/>
          </a:stretch>
        </p:blipFill>
        <p:spPr>
          <a:xfrm>
            <a:off x="788511" y="1905001"/>
            <a:ext cx="3429317" cy="933767"/>
          </a:xfrm>
          <a:prstGeom prst="rect">
            <a:avLst/>
          </a:prstGeom>
        </p:spPr>
      </p:pic>
      <p:pic>
        <p:nvPicPr>
          <p:cNvPr id="7" name="图片 6"/>
          <p:cNvPicPr/>
          <p:nvPr/>
        </p:nvPicPr>
        <p:blipFill>
          <a:blip r:embed="rId2"/>
          <a:stretch>
            <a:fillRect/>
          </a:stretch>
        </p:blipFill>
        <p:spPr>
          <a:xfrm>
            <a:off x="603091" y="3127058"/>
            <a:ext cx="3492817" cy="667067"/>
          </a:xfrm>
          <a:prstGeom prst="rect">
            <a:avLst/>
          </a:prstGeom>
        </p:spPr>
      </p:pic>
      <p:pic>
        <p:nvPicPr>
          <p:cNvPr id="9" name="图片 8"/>
          <p:cNvPicPr/>
          <p:nvPr/>
        </p:nvPicPr>
        <p:blipFill>
          <a:blip r:embed="rId3"/>
          <a:stretch>
            <a:fillRect/>
          </a:stretch>
        </p:blipFill>
        <p:spPr>
          <a:xfrm>
            <a:off x="750411" y="3964305"/>
            <a:ext cx="3454717" cy="749617"/>
          </a:xfrm>
          <a:prstGeom prst="rect">
            <a:avLst/>
          </a:prstGeom>
        </p:spPr>
      </p:pic>
      <p:pic>
        <p:nvPicPr>
          <p:cNvPr id="11" name="图片 10"/>
          <p:cNvPicPr/>
          <p:nvPr/>
        </p:nvPicPr>
        <p:blipFill>
          <a:blip r:embed="rId4"/>
          <a:stretch>
            <a:fillRect/>
          </a:stretch>
        </p:blipFill>
        <p:spPr>
          <a:xfrm>
            <a:off x="750411" y="5112067"/>
            <a:ext cx="3467417" cy="794067"/>
          </a:xfrm>
          <a:prstGeom prst="rect">
            <a:avLst/>
          </a:prstGeom>
        </p:spPr>
      </p:pic>
      <p:sp>
        <p:nvSpPr>
          <p:cNvPr id="12" name="文本框 11"/>
          <p:cNvSpPr txBox="1"/>
          <p:nvPr/>
        </p:nvSpPr>
        <p:spPr>
          <a:xfrm>
            <a:off x="4381341" y="5784849"/>
            <a:ext cx="5080000" cy="737235"/>
          </a:xfrm>
          <a:prstGeom prst="rect">
            <a:avLst/>
          </a:prstGeom>
        </p:spPr>
        <p:txBody>
          <a:bodyPr>
            <a:spAutoFit/>
          </a:bodyPr>
          <a:p>
            <a:endParaRPr lang="en-US" altLang="zh-CN" sz="2600"/>
          </a:p>
          <a:p>
            <a:pPr marL="0" indent="0" algn="just" defTabSz="266700">
              <a:spcBef>
                <a:spcPct val="0"/>
              </a:spcBef>
              <a:spcAft>
                <a:spcPct val="0"/>
              </a:spcAft>
            </a:pPr>
            <a:r>
              <a:rPr lang="en-US" altLang="zh-CN" sz="1600">
                <a:latin typeface="Calibri" panose="020F0502020204030204"/>
                <a:ea typeface="宋体" panose="02010600030101010101" pitchFamily="2" charset="-122"/>
              </a:rPr>
              <a:t> </a:t>
            </a:r>
            <a:endParaRPr lang="en-US" altLang="zh-CN" sz="1600">
              <a:latin typeface="Calibri" panose="020F0502020204030204"/>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0060" y="1155065"/>
            <a:ext cx="5168900" cy="460375"/>
          </a:xfrm>
          <a:prstGeom prst="rect">
            <a:avLst/>
          </a:prstGeom>
          <a:noFill/>
        </p:spPr>
        <p:txBody>
          <a:bodyPr wrap="square" rtlCol="0">
            <a:spAutoFit/>
          </a:bodyPr>
          <a:lstStyle/>
          <a:p>
            <a:r>
              <a:rPr lang="zh-CN" altLang="en-US" sz="2400">
                <a:sym typeface="+mn-ea"/>
              </a:rPr>
              <a:t>注意力反射</a:t>
            </a:r>
            <a:r>
              <a:rPr lang="zh-CN" altLang="en-US" sz="2400">
                <a:sym typeface="+mn-ea"/>
              </a:rPr>
              <a:t>模块</a:t>
            </a:r>
            <a:endParaRPr lang="zh-CN" altLang="en-US" sz="2400">
              <a:sym typeface="+mn-ea"/>
            </a:endParaRPr>
          </a:p>
        </p:txBody>
      </p:sp>
      <p:pic>
        <p:nvPicPr>
          <p:cNvPr id="6" name="图片 5"/>
          <p:cNvPicPr>
            <a:picLocks noChangeAspect="1"/>
          </p:cNvPicPr>
          <p:nvPr/>
        </p:nvPicPr>
        <p:blipFill>
          <a:blip r:embed="rId1"/>
          <a:stretch>
            <a:fillRect/>
          </a:stretch>
        </p:blipFill>
        <p:spPr>
          <a:xfrm>
            <a:off x="544830" y="1754505"/>
            <a:ext cx="2952750" cy="3587750"/>
          </a:xfrm>
          <a:prstGeom prst="rect">
            <a:avLst/>
          </a:prstGeom>
        </p:spPr>
      </p:pic>
      <p:sp>
        <p:nvSpPr>
          <p:cNvPr id="8" name="文本框 7"/>
          <p:cNvSpPr txBox="1"/>
          <p:nvPr/>
        </p:nvSpPr>
        <p:spPr>
          <a:xfrm>
            <a:off x="4034155" y="1299210"/>
            <a:ext cx="7412355" cy="3138170"/>
          </a:xfrm>
          <a:prstGeom prst="rect">
            <a:avLst/>
          </a:prstGeom>
          <a:noFill/>
        </p:spPr>
        <p:txBody>
          <a:bodyPr wrap="square" rtlCol="0">
            <a:spAutoFit/>
          </a:bodyPr>
          <a:p>
            <a:r>
              <a:rPr lang="zh-CN" altLang="en-US"/>
              <a:t>在每一个时间步t中，多训练一个PET块来重建任务t的输入样本。对于每一个的输入，将通过一个特殊的[gen]标记代替，此时每一个任务的PET重建块就会获得对于其每个块的伪样本，G1，G2，。。。Gn。为了帮助查询投影层在当前时间步上反映或是调用之前任务中样本正确的的共享注意力。</a:t>
            </a:r>
            <a:endParaRPr lang="zh-CN" altLang="en-US"/>
          </a:p>
          <a:p>
            <a:r>
              <a:rPr lang="zh-CN" altLang="en-US"/>
              <a:t>来自Gi的每个实例x[i]都会被馈送到查询投影层，执行公式1，2得到权重信息。记为aˆ[i].相应的a[i]则是t[i]的测试样本得到的权重，代表了整体注意力权重。然后借助KL散度公式</a:t>
            </a:r>
            <a:r>
              <a:rPr lang="en-US" altLang="zh-CN"/>
              <a:t> 5 </a:t>
            </a:r>
            <a:r>
              <a:rPr lang="zh-CN" altLang="en-US"/>
              <a:t>计算于原先的权重得到权重信息的差值用于更新查询投影层参数信息和关键向量</a:t>
            </a:r>
            <a:r>
              <a:rPr lang="en-US" altLang="zh-CN"/>
              <a:t>k[i]</a:t>
            </a:r>
            <a:r>
              <a:rPr lang="zh-CN" altLang="en-US"/>
              <a:t>。</a:t>
            </a:r>
            <a:endParaRPr lang="zh-CN" altLang="en-US"/>
          </a:p>
          <a:p>
            <a:r>
              <a:rPr lang="zh-CN" altLang="en-US"/>
              <a:t>（这里两个信息是不是和前面的注意力选择部分一致，可能得看代码实现吧）。</a:t>
            </a:r>
            <a:endParaRPr lang="zh-CN" altLang="en-US"/>
          </a:p>
        </p:txBody>
      </p:sp>
      <p:pic>
        <p:nvPicPr>
          <p:cNvPr id="4" name="图片 3"/>
          <p:cNvPicPr/>
          <p:nvPr/>
        </p:nvPicPr>
        <p:blipFill>
          <a:blip r:embed="rId2"/>
          <a:stretch>
            <a:fillRect/>
          </a:stretch>
        </p:blipFill>
        <p:spPr>
          <a:xfrm>
            <a:off x="3320256" y="5582286"/>
            <a:ext cx="3429317" cy="933767"/>
          </a:xfrm>
          <a:prstGeom prst="rect">
            <a:avLst/>
          </a:prstGeom>
        </p:spPr>
      </p:pic>
      <p:pic>
        <p:nvPicPr>
          <p:cNvPr id="2" name="图片 1"/>
          <p:cNvPicPr/>
          <p:nvPr/>
        </p:nvPicPr>
        <p:blipFill>
          <a:blip r:embed="rId3"/>
          <a:stretch>
            <a:fillRect/>
          </a:stretch>
        </p:blipFill>
        <p:spPr>
          <a:xfrm>
            <a:off x="7550626" y="5581968"/>
            <a:ext cx="3492817" cy="667067"/>
          </a:xfrm>
          <a:prstGeom prst="rect">
            <a:avLst/>
          </a:prstGeom>
        </p:spPr>
      </p:pic>
      <p:pic>
        <p:nvPicPr>
          <p:cNvPr id="39" name="图片 6"/>
          <p:cNvPicPr>
            <a:picLocks noChangeAspect="1"/>
          </p:cNvPicPr>
          <p:nvPr/>
        </p:nvPicPr>
        <p:blipFill>
          <a:blip r:embed="rId4"/>
          <a:stretch>
            <a:fillRect/>
          </a:stretch>
        </p:blipFill>
        <p:spPr>
          <a:xfrm>
            <a:off x="4788218" y="4215765"/>
            <a:ext cx="5310505" cy="1181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0060" y="1155065"/>
            <a:ext cx="5168900" cy="460375"/>
          </a:xfrm>
          <a:prstGeom prst="rect">
            <a:avLst/>
          </a:prstGeom>
          <a:noFill/>
        </p:spPr>
        <p:txBody>
          <a:bodyPr wrap="square" rtlCol="0">
            <a:spAutoFit/>
          </a:bodyPr>
          <a:lstStyle/>
          <a:p>
            <a:r>
              <a:rPr lang="zh-CN" altLang="en-US" sz="2400">
                <a:sym typeface="+mn-ea"/>
              </a:rPr>
              <a:t>实验结果</a:t>
            </a:r>
            <a:endParaRPr lang="zh-CN" altLang="en-US" sz="2400">
              <a:sym typeface="+mn-ea"/>
            </a:endParaRPr>
          </a:p>
        </p:txBody>
      </p:sp>
      <p:sp>
        <p:nvSpPr>
          <p:cNvPr id="5" name="文本框 4"/>
          <p:cNvSpPr txBox="1"/>
          <p:nvPr/>
        </p:nvSpPr>
        <p:spPr>
          <a:xfrm>
            <a:off x="6903720" y="1106805"/>
            <a:ext cx="5018405" cy="1905000"/>
          </a:xfrm>
          <a:prstGeom prst="rect">
            <a:avLst/>
          </a:prstGeom>
        </p:spPr>
        <p:txBody>
          <a:bodyPr>
            <a:noAutofit/>
          </a:bodyPr>
          <a:p>
            <a:pPr marL="0" indent="266700" algn="just" defTabSz="266700">
              <a:spcBef>
                <a:spcPct val="0"/>
              </a:spcBef>
              <a:spcAft>
                <a:spcPct val="0"/>
              </a:spcAft>
            </a:pPr>
            <a:r>
              <a:rPr lang="zh-CN" altLang="en-US" sz="1600">
                <a:latin typeface="宋体" panose="02010600030101010101" pitchFamily="2" charset="-122"/>
                <a:ea typeface="宋体" panose="02010600030101010101" pitchFamily="2" charset="-122"/>
              </a:rPr>
              <a:t>数据集采用</a:t>
            </a:r>
            <a:r>
              <a:rPr lang="en-US" altLang="zh-CN" sz="1600">
                <a:latin typeface="宋体" panose="02010600030101010101" pitchFamily="2" charset="-122"/>
                <a:ea typeface="宋体" panose="02010600030101010101" pitchFamily="2" charset="-122"/>
              </a:rPr>
              <a:t>SuperNI </a:t>
            </a:r>
            <a:r>
              <a:rPr lang="zh-CN" altLang="en-US" sz="1600">
                <a:latin typeface="宋体" panose="02010600030101010101" pitchFamily="2" charset="-122"/>
                <a:ea typeface="宋体" panose="02010600030101010101" pitchFamily="2" charset="-122"/>
              </a:rPr>
              <a:t>基准数据集，包含各种</a:t>
            </a:r>
            <a:r>
              <a:rPr lang="en-US" altLang="zh-CN" sz="1600">
                <a:latin typeface="宋体" panose="02010600030101010101" pitchFamily="2" charset="-122"/>
                <a:ea typeface="宋体" panose="02010600030101010101" pitchFamily="2" charset="-122"/>
              </a:rPr>
              <a:t>NLP</a:t>
            </a:r>
            <a:r>
              <a:rPr lang="zh-CN" altLang="en-US" sz="1600">
                <a:latin typeface="宋体" panose="02010600030101010101" pitchFamily="2" charset="-122"/>
                <a:ea typeface="宋体" panose="02010600030101010101" pitchFamily="2" charset="-122"/>
              </a:rPr>
              <a:t>任务和指定的任务描述，另一个是</a:t>
            </a:r>
            <a:r>
              <a:rPr lang="en-US" altLang="zh-CN" sz="1600">
                <a:latin typeface="宋体" panose="02010600030101010101" pitchFamily="2" charset="-122"/>
                <a:ea typeface="宋体" panose="02010600030101010101" pitchFamily="2" charset="-122"/>
              </a:rPr>
              <a:t>Long Sequence Benchmark</a:t>
            </a:r>
            <a:r>
              <a:rPr lang="zh-CN" altLang="en-US" sz="1600">
                <a:latin typeface="宋体" panose="02010600030101010101" pitchFamily="2" charset="-122"/>
                <a:ea typeface="宋体" panose="02010600030101010101" pitchFamily="2" charset="-122"/>
              </a:rPr>
              <a:t>，用于持续学习的</a:t>
            </a:r>
            <a:r>
              <a:rPr lang="en-US" altLang="zh-CN" sz="1600">
                <a:latin typeface="宋体" panose="02010600030101010101" pitchFamily="2" charset="-122"/>
                <a:ea typeface="宋体" panose="02010600030101010101" pitchFamily="2" charset="-122"/>
              </a:rPr>
              <a:t>15</a:t>
            </a:r>
            <a:r>
              <a:rPr lang="zh-CN" altLang="en-US" sz="1600">
                <a:latin typeface="宋体" panose="02010600030101010101" pitchFamily="2" charset="-122"/>
                <a:ea typeface="宋体" panose="02010600030101010101" pitchFamily="2" charset="-122"/>
              </a:rPr>
              <a:t>分类任务数据集。</a:t>
            </a:r>
            <a:r>
              <a:rPr lang="en-US" altLang="zh-CN" sz="1600">
                <a:latin typeface="宋体" panose="02010600030101010101" pitchFamily="2" charset="-122"/>
                <a:ea typeface="宋体" panose="02010600030101010101" pitchFamily="2" charset="-122"/>
              </a:rPr>
              <a:t>A[i,j]</a:t>
            </a:r>
            <a:r>
              <a:rPr lang="zh-CN" altLang="en-US" sz="1600">
                <a:latin typeface="宋体" panose="02010600030101010101" pitchFamily="2" charset="-122"/>
                <a:ea typeface="宋体" panose="02010600030101010101" pitchFamily="2" charset="-122"/>
              </a:rPr>
              <a:t>表示第</a:t>
            </a:r>
            <a:r>
              <a:rPr lang="en-US" altLang="zh-CN" sz="1600">
                <a:latin typeface="宋体" panose="02010600030101010101" pitchFamily="2" charset="-122"/>
                <a:ea typeface="宋体" panose="02010600030101010101" pitchFamily="2" charset="-122"/>
              </a:rPr>
              <a:t>j</a:t>
            </a:r>
            <a:r>
              <a:rPr lang="zh-CN" altLang="en-US" sz="1600">
                <a:latin typeface="宋体" panose="02010600030101010101" pitchFamily="2" charset="-122"/>
                <a:ea typeface="宋体" panose="02010600030101010101" pitchFamily="2" charset="-122"/>
              </a:rPr>
              <a:t>个任务在经过第</a:t>
            </a:r>
            <a:r>
              <a:rPr lang="en-US" altLang="zh-CN" sz="1600">
                <a:latin typeface="宋体" panose="02010600030101010101" pitchFamily="2" charset="-122"/>
                <a:ea typeface="宋体" panose="02010600030101010101" pitchFamily="2" charset="-122"/>
              </a:rPr>
              <a:t>i</a:t>
            </a:r>
            <a:r>
              <a:rPr lang="zh-CN" altLang="en-US" sz="1600">
                <a:latin typeface="宋体" panose="02010600030101010101" pitchFamily="2" charset="-122"/>
                <a:ea typeface="宋体" panose="02010600030101010101" pitchFamily="2" charset="-122"/>
              </a:rPr>
              <a:t>个任务训练后的结果，实验的结果有 </a:t>
            </a:r>
            <a:r>
              <a:rPr lang="en-US" altLang="zh-CN" sz="1600">
                <a:latin typeface="宋体" panose="02010600030101010101" pitchFamily="2" charset="-122"/>
                <a:ea typeface="宋体" panose="02010600030101010101" pitchFamily="2" charset="-122"/>
              </a:rPr>
              <a:t>AP</a:t>
            </a:r>
            <a:r>
              <a:rPr lang="zh-CN" altLang="en-US" sz="1600">
                <a:latin typeface="宋体" panose="02010600030101010101" pitchFamily="2" charset="-122"/>
                <a:ea typeface="宋体" panose="02010600030101010101" pitchFamily="2" charset="-122"/>
              </a:rPr>
              <a:t>，</a:t>
            </a:r>
            <a:r>
              <a:rPr lang="en-US" altLang="zh-CN" sz="1600">
                <a:latin typeface="宋体" panose="02010600030101010101" pitchFamily="2" charset="-122"/>
                <a:ea typeface="宋体" panose="02010600030101010101" pitchFamily="2" charset="-122"/>
              </a:rPr>
              <a:t>F.RA(</a:t>
            </a:r>
            <a:r>
              <a:rPr lang="zh-CN" altLang="en-US" sz="1600">
                <a:latin typeface="宋体" panose="02010600030101010101" pitchFamily="2" charset="-122"/>
                <a:ea typeface="宋体" panose="02010600030101010101" pitchFamily="2" charset="-122"/>
              </a:rPr>
              <a:t>遗忘率</a:t>
            </a:r>
            <a:r>
              <a:rPr lang="en-US" altLang="zh-CN" sz="1600">
                <a:latin typeface="宋体" panose="02010600030101010101" pitchFamily="2" charset="-122"/>
                <a:ea typeface="宋体" panose="02010600030101010101" pitchFamily="2" charset="-122"/>
              </a:rPr>
              <a:t>)</a:t>
            </a:r>
            <a:r>
              <a:rPr lang="zh-CN" altLang="en-US" sz="1600">
                <a:latin typeface="宋体" panose="02010600030101010101" pitchFamily="2" charset="-122"/>
                <a:ea typeface="宋体" panose="02010600030101010101" pitchFamily="2" charset="-122"/>
              </a:rPr>
              <a:t>，</a:t>
            </a:r>
            <a:r>
              <a:rPr lang="en-US" altLang="zh-CN" sz="1600">
                <a:latin typeface="宋体" panose="02010600030101010101" pitchFamily="2" charset="-122"/>
                <a:ea typeface="宋体" panose="02010600030101010101" pitchFamily="2" charset="-122"/>
              </a:rPr>
              <a:t>FWT(</a:t>
            </a:r>
            <a:r>
              <a:rPr lang="zh-CN" altLang="en-US" sz="1600">
                <a:latin typeface="宋体" panose="02010600030101010101" pitchFamily="2" charset="-122"/>
                <a:ea typeface="宋体" panose="02010600030101010101" pitchFamily="2" charset="-122"/>
              </a:rPr>
              <a:t>先前任务转移量</a:t>
            </a:r>
            <a:r>
              <a:rPr lang="en-US" altLang="zh-CN" sz="1600">
                <a:latin typeface="宋体" panose="02010600030101010101" pitchFamily="2" charset="-122"/>
                <a:ea typeface="宋体" panose="02010600030101010101" pitchFamily="2" charset="-122"/>
              </a:rPr>
              <a:t>)</a:t>
            </a:r>
            <a:r>
              <a:rPr lang="zh-CN" altLang="en-US" sz="1600">
                <a:latin typeface="宋体" panose="02010600030101010101" pitchFamily="2" charset="-122"/>
                <a:ea typeface="宋体" panose="02010600030101010101" pitchFamily="2" charset="-122"/>
              </a:rPr>
              <a:t>，</a:t>
            </a:r>
            <a:r>
              <a:rPr lang="en-US" altLang="zh-CN" sz="1600">
                <a:latin typeface="宋体" panose="02010600030101010101" pitchFamily="2" charset="-122"/>
                <a:ea typeface="宋体" panose="02010600030101010101" pitchFamily="2" charset="-122"/>
              </a:rPr>
              <a:t>BWT</a:t>
            </a:r>
            <a:r>
              <a:rPr lang="zh-CN" altLang="en-US" sz="1600">
                <a:latin typeface="宋体" panose="02010600030101010101" pitchFamily="2" charset="-122"/>
                <a:ea typeface="宋体" panose="02010600030101010101" pitchFamily="2" charset="-122"/>
              </a:rPr>
              <a:t>（后续任务学习对学习任务影响）。此外本方法于模型和</a:t>
            </a:r>
            <a:r>
              <a:rPr lang="en-US" altLang="zh-CN" sz="1600">
                <a:latin typeface="宋体" panose="02010600030101010101" pitchFamily="2" charset="-122"/>
                <a:ea typeface="宋体" panose="02010600030101010101" pitchFamily="2" charset="-122"/>
              </a:rPr>
              <a:t>PET</a:t>
            </a:r>
            <a:r>
              <a:rPr lang="zh-CN" altLang="en-US" sz="1600">
                <a:latin typeface="宋体" panose="02010600030101010101" pitchFamily="2" charset="-122"/>
                <a:ea typeface="宋体" panose="02010600030101010101" pitchFamily="2" charset="-122"/>
              </a:rPr>
              <a:t>均无关，可以套用到任何</a:t>
            </a:r>
            <a:r>
              <a:rPr lang="en-US" altLang="zh-CN" sz="1600">
                <a:latin typeface="宋体" panose="02010600030101010101" pitchFamily="2" charset="-122"/>
                <a:ea typeface="宋体" panose="02010600030101010101" pitchFamily="2" charset="-122"/>
              </a:rPr>
              <a:t>LLM</a:t>
            </a:r>
            <a:r>
              <a:rPr lang="zh-CN" altLang="en-US" sz="1600">
                <a:latin typeface="宋体" panose="02010600030101010101" pitchFamily="2" charset="-122"/>
                <a:ea typeface="宋体" panose="02010600030101010101" pitchFamily="2" charset="-122"/>
              </a:rPr>
              <a:t>模型上。</a:t>
            </a:r>
            <a:endParaRPr lang="zh-CN" altLang="en-US" sz="1600">
              <a:latin typeface="宋体" panose="02010600030101010101" pitchFamily="2" charset="-122"/>
              <a:ea typeface="宋体" panose="02010600030101010101" pitchFamily="2" charset="-122"/>
            </a:endParaRPr>
          </a:p>
        </p:txBody>
      </p:sp>
      <p:pic>
        <p:nvPicPr>
          <p:cNvPr id="40" name="图片 7"/>
          <p:cNvPicPr>
            <a:picLocks noChangeAspect="1"/>
          </p:cNvPicPr>
          <p:nvPr/>
        </p:nvPicPr>
        <p:blipFill>
          <a:blip r:embed="rId1"/>
          <a:stretch>
            <a:fillRect/>
          </a:stretch>
        </p:blipFill>
        <p:spPr>
          <a:xfrm>
            <a:off x="610235" y="3258820"/>
            <a:ext cx="10011410" cy="3387090"/>
          </a:xfrm>
          <a:prstGeom prst="rect">
            <a:avLst/>
          </a:prstGeom>
          <a:noFill/>
          <a:ln>
            <a:noFill/>
          </a:ln>
        </p:spPr>
      </p:pic>
      <p:sp>
        <p:nvSpPr>
          <p:cNvPr id="9" name="文本框 8"/>
          <p:cNvSpPr txBox="1"/>
          <p:nvPr/>
        </p:nvSpPr>
        <p:spPr>
          <a:xfrm>
            <a:off x="480060" y="1721485"/>
            <a:ext cx="6421120" cy="1537335"/>
          </a:xfrm>
          <a:prstGeom prst="rect">
            <a:avLst/>
          </a:prstGeom>
          <a:noFill/>
        </p:spPr>
        <p:txBody>
          <a:bodyPr wrap="square" rtlCol="0">
            <a:noAutofit/>
          </a:bodyPr>
          <a:p>
            <a:r>
              <a:rPr lang="zh-CN" altLang="en-US" sz="1600"/>
              <a:t>我们的 SAPT 可以有效地同时应对 CF 和 KT 的挑战。与基于提示的方法  和基于 LoRA的方法  相比，SAPT 在解决两个关键挑战方面表现更好，即 CF （最高 AP 和最低 F.Ra） 和 KT （最高 FWT 和 BWT） 当按顺序学习不同的任务时。此外，对于基于重放的方法，SAPT 优于 Replay 和 LFPT5 的性能为伪样本的利用提供了新的视角，而不仅仅是盲目地将它们与新任务的样本混合以进行联合训练。</a:t>
            </a:r>
            <a:endParaRPr lang="zh-CN" altLang="en-US"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0060" y="1155065"/>
            <a:ext cx="5168900" cy="460375"/>
          </a:xfrm>
          <a:prstGeom prst="rect">
            <a:avLst/>
          </a:prstGeom>
          <a:noFill/>
        </p:spPr>
        <p:txBody>
          <a:bodyPr wrap="square" rtlCol="0">
            <a:spAutoFit/>
          </a:bodyPr>
          <a:lstStyle/>
          <a:p>
            <a:r>
              <a:rPr lang="zh-CN" altLang="en-US" sz="2400">
                <a:sym typeface="+mn-ea"/>
              </a:rPr>
              <a:t>实验结果</a:t>
            </a:r>
            <a:endParaRPr lang="zh-CN" altLang="en-US" sz="2400">
              <a:sym typeface="+mn-ea"/>
            </a:endParaRPr>
          </a:p>
        </p:txBody>
      </p:sp>
      <p:pic>
        <p:nvPicPr>
          <p:cNvPr id="41" name="图片 8"/>
          <p:cNvPicPr>
            <a:picLocks noChangeAspect="1"/>
          </p:cNvPicPr>
          <p:nvPr/>
        </p:nvPicPr>
        <p:blipFill>
          <a:blip r:embed="rId1"/>
          <a:stretch>
            <a:fillRect/>
          </a:stretch>
        </p:blipFill>
        <p:spPr>
          <a:xfrm>
            <a:off x="528955" y="1847215"/>
            <a:ext cx="7489190" cy="2178685"/>
          </a:xfrm>
          <a:prstGeom prst="rect">
            <a:avLst/>
          </a:prstGeom>
          <a:noFill/>
          <a:ln>
            <a:noFill/>
          </a:ln>
        </p:spPr>
      </p:pic>
      <p:sp>
        <p:nvSpPr>
          <p:cNvPr id="2" name="文本框 1"/>
          <p:cNvSpPr txBox="1"/>
          <p:nvPr/>
        </p:nvSpPr>
        <p:spPr>
          <a:xfrm>
            <a:off x="6697345" y="4295140"/>
            <a:ext cx="5080000" cy="1322070"/>
          </a:xfrm>
          <a:prstGeom prst="rect">
            <a:avLst/>
          </a:prstGeom>
        </p:spPr>
        <p:txBody>
          <a:bodyPr>
            <a:spAutoFit/>
          </a:bodyPr>
          <a:p>
            <a:pPr marL="0" indent="0" algn="just" defTabSz="266700">
              <a:spcBef>
                <a:spcPct val="0"/>
              </a:spcBef>
              <a:spcAft>
                <a:spcPct val="0"/>
              </a:spcAft>
            </a:pPr>
            <a:r>
              <a:rPr lang="zh-CN" altLang="en-US" sz="1600">
                <a:latin typeface="宋体" panose="02010600030101010101" pitchFamily="2" charset="-122"/>
                <a:ea typeface="宋体" panose="02010600030101010101" pitchFamily="2" charset="-122"/>
              </a:rPr>
              <a:t>而在消融实验中，最关键的是</a:t>
            </a:r>
            <a:r>
              <a:rPr lang="en-US" altLang="zh-CN" sz="1600">
                <a:latin typeface="宋体" panose="02010600030101010101" pitchFamily="2" charset="-122"/>
                <a:ea typeface="宋体" panose="02010600030101010101" pitchFamily="2" charset="-122"/>
              </a:rPr>
              <a:t>ARM</a:t>
            </a:r>
            <a:r>
              <a:rPr lang="zh-CN" altLang="en-US" sz="1600">
                <a:latin typeface="宋体" panose="02010600030101010101" pitchFamily="2" charset="-122"/>
                <a:ea typeface="宋体" panose="02010600030101010101" pitchFamily="2" charset="-122"/>
              </a:rPr>
              <a:t>，注意力反射模块，可见他的能帮助不同输入样本回忆起它们最初应该组合的相应 </a:t>
            </a:r>
            <a:r>
              <a:rPr lang="en-US" altLang="zh-CN" sz="1600">
                <a:latin typeface="宋体" panose="02010600030101010101" pitchFamily="2" charset="-122"/>
                <a:ea typeface="宋体" panose="02010600030101010101" pitchFamily="2" charset="-122"/>
              </a:rPr>
              <a:t>PET </a:t>
            </a:r>
            <a:r>
              <a:rPr lang="zh-CN" altLang="en-US" sz="1600">
                <a:latin typeface="宋体" panose="02010600030101010101" pitchFamily="2" charset="-122"/>
                <a:ea typeface="宋体" panose="02010600030101010101" pitchFamily="2" charset="-122"/>
              </a:rPr>
              <a:t>块的正确共享注意力方面的关键作用，而对齐学习和选择的部分，通过注意力机制选择之前所有的块也保证了能全面利用之前的知识。</a:t>
            </a:r>
            <a:endParaRPr lang="zh-CN" altLang="en-US" sz="1600">
              <a:latin typeface="宋体" panose="02010600030101010101" pitchFamily="2" charset="-122"/>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0060" y="1155065"/>
            <a:ext cx="5168900" cy="460375"/>
          </a:xfrm>
          <a:prstGeom prst="rect">
            <a:avLst/>
          </a:prstGeom>
          <a:noFill/>
        </p:spPr>
        <p:txBody>
          <a:bodyPr wrap="square" rtlCol="0">
            <a:spAutoFit/>
          </a:bodyPr>
          <a:lstStyle/>
          <a:p>
            <a:r>
              <a:rPr lang="zh-CN" altLang="en-US" sz="2400">
                <a:sym typeface="+mn-ea"/>
              </a:rPr>
              <a:t>实验结果</a:t>
            </a:r>
            <a:endParaRPr lang="zh-CN" altLang="en-US" sz="2400">
              <a:sym typeface="+mn-ea"/>
            </a:endParaRPr>
          </a:p>
        </p:txBody>
      </p:sp>
      <p:pic>
        <p:nvPicPr>
          <p:cNvPr id="42" name="图片 9"/>
          <p:cNvPicPr>
            <a:picLocks noChangeAspect="1"/>
          </p:cNvPicPr>
          <p:nvPr/>
        </p:nvPicPr>
        <p:blipFill>
          <a:blip r:embed="rId1"/>
          <a:stretch>
            <a:fillRect/>
          </a:stretch>
        </p:blipFill>
        <p:spPr>
          <a:xfrm>
            <a:off x="480060" y="1723390"/>
            <a:ext cx="6139180" cy="2733040"/>
          </a:xfrm>
          <a:prstGeom prst="rect">
            <a:avLst/>
          </a:prstGeom>
          <a:noFill/>
          <a:ln>
            <a:noFill/>
          </a:ln>
        </p:spPr>
      </p:pic>
      <p:sp>
        <p:nvSpPr>
          <p:cNvPr id="4" name="文本框 3"/>
          <p:cNvSpPr txBox="1"/>
          <p:nvPr/>
        </p:nvSpPr>
        <p:spPr>
          <a:xfrm>
            <a:off x="6619240" y="2232025"/>
            <a:ext cx="5080000" cy="3034665"/>
          </a:xfrm>
          <a:prstGeom prst="rect">
            <a:avLst/>
          </a:prstGeom>
        </p:spPr>
        <p:txBody>
          <a:bodyPr>
            <a:noAutofit/>
          </a:bodyPr>
          <a:p>
            <a:pPr marL="0" indent="0" algn="just" defTabSz="266700">
              <a:spcBef>
                <a:spcPct val="0"/>
              </a:spcBef>
              <a:spcAft>
                <a:spcPct val="0"/>
              </a:spcAft>
            </a:pPr>
            <a:r>
              <a:rPr lang="zh-CN" altLang="en-US" sz="1600">
                <a:latin typeface="宋体" panose="02010600030101010101" pitchFamily="2" charset="-122"/>
                <a:ea typeface="宋体" panose="02010600030101010101" pitchFamily="2" charset="-122"/>
              </a:rPr>
              <a:t>我们有以下两个值得讨论的观察结果：</a:t>
            </a:r>
            <a:r>
              <a:rPr lang="en-US" altLang="zh-CN" sz="1600">
                <a:latin typeface="宋体" panose="02010600030101010101" pitchFamily="2" charset="-122"/>
                <a:ea typeface="宋体" panose="02010600030101010101" pitchFamily="2" charset="-122"/>
              </a:rPr>
              <a:t>(1)</a:t>
            </a:r>
            <a:r>
              <a:rPr lang="zh-CN" altLang="en-US" sz="1600">
                <a:latin typeface="宋体" panose="02010600030101010101" pitchFamily="2" charset="-122"/>
                <a:ea typeface="宋体" panose="02010600030101010101" pitchFamily="2" charset="-122"/>
              </a:rPr>
              <a:t>无论使用的是真实数据还是伪数据，</a:t>
            </a:r>
            <a:r>
              <a:rPr lang="en-US" altLang="zh-CN" sz="1600">
                <a:latin typeface="宋体" panose="02010600030101010101" pitchFamily="2" charset="-122"/>
                <a:ea typeface="宋体" panose="02010600030101010101" pitchFamily="2" charset="-122"/>
              </a:rPr>
              <a:t>SAPT</a:t>
            </a:r>
            <a:r>
              <a:rPr lang="zh-CN" altLang="en-US" sz="1600">
                <a:latin typeface="宋体" panose="02010600030101010101" pitchFamily="2" charset="-122"/>
                <a:ea typeface="宋体" panose="02010600030101010101" pitchFamily="2" charset="-122"/>
              </a:rPr>
              <a:t>在重放过程中都展示了计算效率，即使最小重放规模为</a:t>
            </a:r>
            <a:r>
              <a:rPr lang="en-US" altLang="zh-CN" sz="1600">
                <a:latin typeface="宋体" panose="02010600030101010101" pitchFamily="2" charset="-122"/>
                <a:ea typeface="宋体" panose="02010600030101010101" pitchFamily="2" charset="-122"/>
              </a:rPr>
              <a:t>2%</a:t>
            </a:r>
            <a:r>
              <a:rPr lang="zh-CN" altLang="en-US" sz="1600">
                <a:latin typeface="宋体" panose="02010600030101010101" pitchFamily="2" charset="-122"/>
                <a:ea typeface="宋体" panose="02010600030101010101" pitchFamily="2" charset="-122"/>
              </a:rPr>
              <a:t>，也比</a:t>
            </a:r>
            <a:r>
              <a:rPr lang="en-US" altLang="zh-CN" sz="1600">
                <a:latin typeface="宋体" panose="02010600030101010101" pitchFamily="2" charset="-122"/>
                <a:ea typeface="宋体" panose="02010600030101010101" pitchFamily="2" charset="-122"/>
              </a:rPr>
              <a:t>LFPT5</a:t>
            </a:r>
            <a:r>
              <a:rPr lang="zh-CN" altLang="en-US" sz="1600">
                <a:latin typeface="宋体" panose="02010600030101010101" pitchFamily="2" charset="-122"/>
                <a:ea typeface="宋体" panose="02010600030101010101" pitchFamily="2" charset="-122"/>
              </a:rPr>
              <a:t>和</a:t>
            </a:r>
            <a:r>
              <a:rPr lang="en-US" altLang="zh-CN" sz="1600">
                <a:latin typeface="宋体" panose="02010600030101010101" pitchFamily="2" charset="-122"/>
                <a:ea typeface="宋体" panose="02010600030101010101" pitchFamily="2" charset="-122"/>
              </a:rPr>
              <a:t>replay</a:t>
            </a:r>
            <a:r>
              <a:rPr lang="zh-CN" altLang="en-US" sz="1600">
                <a:latin typeface="宋体" panose="02010600030101010101" pitchFamily="2" charset="-122"/>
                <a:ea typeface="宋体" panose="02010600030101010101" pitchFamily="2" charset="-122"/>
              </a:rPr>
              <a:t>的最大重放规模为</a:t>
            </a:r>
            <a:r>
              <a:rPr lang="en-US" altLang="zh-CN" sz="1600">
                <a:latin typeface="宋体" panose="02010600030101010101" pitchFamily="2" charset="-122"/>
                <a:ea typeface="宋体" panose="02010600030101010101" pitchFamily="2" charset="-122"/>
              </a:rPr>
              <a:t>100%</a:t>
            </a:r>
            <a:r>
              <a:rPr lang="zh-CN" altLang="en-US" sz="1600">
                <a:latin typeface="宋体" panose="02010600030101010101" pitchFamily="2" charset="-122"/>
                <a:ea typeface="宋体" panose="02010600030101010101" pitchFamily="2" charset="-122"/>
              </a:rPr>
              <a:t>表现出更高的性能。值得一提的是，</a:t>
            </a:r>
            <a:r>
              <a:rPr lang="en-US" altLang="zh-CN" sz="1600">
                <a:latin typeface="宋体" panose="02010600030101010101" pitchFamily="2" charset="-122"/>
                <a:ea typeface="宋体" panose="02010600030101010101" pitchFamily="2" charset="-122"/>
              </a:rPr>
              <a:t>replay</a:t>
            </a:r>
            <a:r>
              <a:rPr lang="zh-CN" altLang="en-US" sz="1600">
                <a:latin typeface="宋体" panose="02010600030101010101" pitchFamily="2" charset="-122"/>
                <a:ea typeface="宋体" panose="02010600030101010101" pitchFamily="2" charset="-122"/>
              </a:rPr>
              <a:t>的重放数据量为</a:t>
            </a:r>
            <a:r>
              <a:rPr lang="en-US" altLang="zh-CN" sz="1600">
                <a:latin typeface="宋体" panose="02010600030101010101" pitchFamily="2" charset="-122"/>
                <a:ea typeface="宋体" panose="02010600030101010101" pitchFamily="2" charset="-122"/>
              </a:rPr>
              <a:t>100%</a:t>
            </a:r>
            <a:r>
              <a:rPr lang="zh-CN" altLang="en-US" sz="1600">
                <a:latin typeface="宋体" panose="02010600030101010101" pitchFamily="2" charset="-122"/>
                <a:ea typeface="宋体" panose="02010600030101010101" pitchFamily="2" charset="-122"/>
              </a:rPr>
              <a:t>时，对应于多任务学习的设置，通常被认为是持续学习的上界。</a:t>
            </a:r>
            <a:r>
              <a:rPr lang="en-US" altLang="zh-CN" sz="1600">
                <a:latin typeface="宋体" panose="02010600030101010101" pitchFamily="2" charset="-122"/>
                <a:ea typeface="宋体" panose="02010600030101010101" pitchFamily="2" charset="-122"/>
              </a:rPr>
              <a:t>SAPT</a:t>
            </a:r>
            <a:r>
              <a:rPr lang="zh-CN" altLang="en-US" sz="1600">
                <a:latin typeface="宋体" panose="02010600030101010101" pitchFamily="2" charset="-122"/>
                <a:ea typeface="宋体" panose="02010600030101010101" pitchFamily="2" charset="-122"/>
              </a:rPr>
              <a:t>能够超越这个上界，说明</a:t>
            </a:r>
            <a:r>
              <a:rPr lang="en-US" altLang="zh-CN" sz="1600">
                <a:latin typeface="宋体" panose="02010600030101010101" pitchFamily="2" charset="-122"/>
                <a:ea typeface="宋体" panose="02010600030101010101" pitchFamily="2" charset="-122"/>
              </a:rPr>
              <a:t>SAPT</a:t>
            </a:r>
            <a:r>
              <a:rPr lang="zh-CN" altLang="en-US" sz="1600">
                <a:latin typeface="宋体" panose="02010600030101010101" pitchFamily="2" charset="-122"/>
                <a:ea typeface="宋体" panose="02010600030101010101" pitchFamily="2" charset="-122"/>
              </a:rPr>
              <a:t>能够灵活处理不同的输入，使其能够被相应的参数处理。</a:t>
            </a:r>
            <a:r>
              <a:rPr lang="en-US" altLang="zh-CN" sz="1600">
                <a:latin typeface="宋体" panose="02010600030101010101" pitchFamily="2" charset="-122"/>
                <a:ea typeface="宋体" panose="02010600030101010101" pitchFamily="2" charset="-122"/>
              </a:rPr>
              <a:t>(2)</a:t>
            </a:r>
            <a:r>
              <a:rPr lang="zh-CN" altLang="en-US" sz="1600">
                <a:latin typeface="宋体" panose="02010600030101010101" pitchFamily="2" charset="-122"/>
                <a:ea typeface="宋体" panose="02010600030101010101" pitchFamily="2" charset="-122"/>
              </a:rPr>
              <a:t>对于</a:t>
            </a:r>
            <a:r>
              <a:rPr lang="en-US" altLang="zh-CN" sz="1600">
                <a:latin typeface="宋体" panose="02010600030101010101" pitchFamily="2" charset="-122"/>
                <a:ea typeface="宋体" panose="02010600030101010101" pitchFamily="2" charset="-122"/>
              </a:rPr>
              <a:t>SAPT</a:t>
            </a:r>
            <a:r>
              <a:rPr lang="zh-CN" altLang="en-US" sz="1600">
                <a:latin typeface="宋体" panose="02010600030101010101" pitchFamily="2" charset="-122"/>
                <a:ea typeface="宋体" panose="02010600030101010101" pitchFamily="2" charset="-122"/>
              </a:rPr>
              <a:t>，使用真实数据和伪数据在性能上没有显著差异。这首先表明了我们生成的伪数据的可靠性和我们提出的</a:t>
            </a:r>
            <a:r>
              <a:rPr lang="en-US" altLang="zh-CN" sz="1600">
                <a:latin typeface="宋体" panose="02010600030101010101" pitchFamily="2" charset="-122"/>
                <a:ea typeface="宋体" panose="02010600030101010101" pitchFamily="2" charset="-122"/>
              </a:rPr>
              <a:t>ARM</a:t>
            </a:r>
            <a:r>
              <a:rPr lang="zh-CN" altLang="en-US" sz="1600">
                <a:latin typeface="宋体" panose="02010600030101010101" pitchFamily="2" charset="-122"/>
                <a:ea typeface="宋体" panose="02010600030101010101" pitchFamily="2" charset="-122"/>
              </a:rPr>
              <a:t>具有足够的鲁棒性，可以利用不同质量的伪数据来完成对共同关注的反射</a:t>
            </a:r>
            <a:endParaRPr lang="zh-CN" altLang="en-US" sz="1600">
              <a:latin typeface="宋体" panose="02010600030101010101" pitchFamily="2" charset="-122"/>
              <a:ea typeface="宋体" panose="02010600030101010101" pitchFamily="2" charset="-122"/>
            </a:endParaRPr>
          </a:p>
        </p:txBody>
      </p:sp>
      <p:sp>
        <p:nvSpPr>
          <p:cNvPr id="5" name="文本框 4"/>
          <p:cNvSpPr txBox="1"/>
          <p:nvPr/>
        </p:nvSpPr>
        <p:spPr>
          <a:xfrm>
            <a:off x="861060" y="5034915"/>
            <a:ext cx="4661535" cy="645160"/>
          </a:xfrm>
          <a:prstGeom prst="rect">
            <a:avLst/>
          </a:prstGeom>
          <a:noFill/>
        </p:spPr>
        <p:txBody>
          <a:bodyPr wrap="square" rtlCol="0">
            <a:spAutoFit/>
          </a:bodyPr>
          <a:p>
            <a:r>
              <a:rPr lang="zh-CN" altLang="en-US"/>
              <a:t>后续的想法是</a:t>
            </a:r>
            <a:r>
              <a:rPr lang="en-US" altLang="zh-CN"/>
              <a:t> </a:t>
            </a:r>
            <a:r>
              <a:rPr lang="zh-CN" altLang="en-US"/>
              <a:t>学习一下这个代码，特别是这个</a:t>
            </a:r>
            <a:r>
              <a:rPr lang="en-US" altLang="zh-CN"/>
              <a:t>ARM</a:t>
            </a:r>
            <a:r>
              <a:rPr lang="zh-CN" altLang="en-US"/>
              <a:t>模块，修改方法上到是没啥</a:t>
            </a:r>
            <a:r>
              <a:rPr lang="zh-CN" altLang="en-US"/>
              <a:t>想法。</a:t>
            </a:r>
            <a:endParaRPr lang="zh-CN" altLang="en-US"/>
          </a:p>
        </p:txBody>
      </p:sp>
    </p:spTree>
  </p:cSld>
  <p:clrMapOvr>
    <a:masterClrMapping/>
  </p:clrMapOvr>
</p:sld>
</file>

<file path=ppt/tags/tag1.xml><?xml version="1.0" encoding="utf-8"?>
<p:tagLst xmlns:p="http://schemas.openxmlformats.org/presentationml/2006/main">
  <p:tag name="commondata" val="eyJoZGlkIjoiNzJjOWQwZGI5NmEwYjhlYTYzY2Y0MTcxNTBiNjEzN2E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3254</Words>
  <Application>WPS 演示</Application>
  <PresentationFormat>宽屏</PresentationFormat>
  <Paragraphs>69</Paragraphs>
  <Slides>11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Arial</vt:lpstr>
      <vt:lpstr>宋体</vt:lpstr>
      <vt:lpstr>Wingdings</vt:lpstr>
      <vt:lpstr>华文行楷</vt:lpstr>
      <vt:lpstr>Calibri</vt:lpstr>
      <vt:lpstr>微软雅黑</vt:lpstr>
      <vt:lpstr>Arial Unicode MS</vt:lpstr>
      <vt:lpstr>Calibri</vt:lpstr>
      <vt:lpstr>WPS</vt:lpstr>
      <vt:lpstr>SAPT: A Shared Attention Framework for Parameter-Efficient  Continual Learning of Large Language Models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莫一凡</dc:creator>
  <cp:lastModifiedBy>莫一凡</cp:lastModifiedBy>
  <cp:revision>8</cp:revision>
  <dcterms:created xsi:type="dcterms:W3CDTF">2023-08-09T12:44:00Z</dcterms:created>
  <dcterms:modified xsi:type="dcterms:W3CDTF">2025-01-04T02:43:46Z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2052-12.1.0.18276</vt:lpwstr>
  </property>
</Properties>
</file>